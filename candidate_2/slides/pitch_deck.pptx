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3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088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PITCHDECK &amp; FINANCIAL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6692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Retail Performance: Stabilizing Growth &amp; Optimizing Category Mix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performance evaluation of $6.16B in total revenue across retail stores, hardware categories, and warranties.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6273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691640"/>
            <a:ext cx="2627300" cy="411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2352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GROSS REVENUE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9112"/>
            <a:ext cx="2352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$6.16B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04872"/>
            <a:ext cx="23529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2020–2024 Aggregate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6252" y="1691640"/>
            <a:ext cx="26273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6252" y="1691640"/>
            <a:ext cx="2627300" cy="411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23412" y="1810512"/>
            <a:ext cx="2352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RUN-RATE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523412" y="2039112"/>
            <a:ext cx="2352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$1.26B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23412" y="2404872"/>
            <a:ext cx="23529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(2020–2023)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78144" y="1691640"/>
            <a:ext cx="26273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8144" y="1691640"/>
            <a:ext cx="2627300" cy="411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5304" y="1810512"/>
            <a:ext cx="2352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REVENUE YOY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315304" y="2039112"/>
            <a:ext cx="2352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15304" y="2404872"/>
            <a:ext cx="23529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Contracted to $1.10B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970035" y="1691640"/>
            <a:ext cx="26273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70035" y="1691640"/>
            <a:ext cx="2627300" cy="411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07195" y="1810512"/>
            <a:ext cx="2352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WARRANTY CLAIM RATE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107195" y="2039112"/>
            <a:ext cx="2352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2.88%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107195" y="2404872"/>
            <a:ext cx="23529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product lines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4360" y="2880360"/>
            <a:ext cx="6222620" cy="3291840"/>
          </a:xfrm>
          <a:prstGeom prst="roundRect">
            <a:avLst>
              <a:gd name="adj" fmla="val 19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3108960"/>
            <a:ext cx="5673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PERFORMANCE HIGHLIGHTS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6968" y="3648456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3566160"/>
            <a:ext cx="5445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Revenue Baseline: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strong at ~$1.26B per year from 2020 to 2023 before experiencing a 12.7% compression in 2024.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86968" y="4489704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97280" y="4407408"/>
            <a:ext cx="5445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Drivers: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($953.4M) and Accessories ($927.1M) lead total sales revenue, while Accessories drive total transaction volume (899k units).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86968" y="533095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97280" y="5248656"/>
            <a:ext cx="5445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Product Quality: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claim rates remain extremely consistent (2.68% – 2.95%), ensuring minimal post-sale repair liabilities.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91300" y="2880360"/>
            <a:ext cx="4506035" cy="3291840"/>
          </a:xfrm>
          <a:prstGeom prst="roundRect">
            <a:avLst>
              <a:gd name="adj" fmla="val 19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9900" y="3081528"/>
            <a:ext cx="4048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TRAJECTORY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9900" y="3447288"/>
          <a:ext cx="4048836" cy="2468880"/>
        </p:xfrm>
        <a:graphic>
          <a:graphicData uri="http://schemas.openxmlformats.org/drawingml/2006/table">
            <a:tbl>
              <a:tblPr/>
              <a:tblGrid>
                <a:gridCol w="1214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3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$1,269,455,486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$1,264,515,755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$1,269,424,007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$1,261,440,123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$1,101,457,659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594360" y="6446520"/>
            <a:ext cx="11002975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Retail Performance Report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8854135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of 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PERFORMANCE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6692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&amp; Accessories Drive Peak Revenue; Ecosystem Extensions Lead Volume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breakdown of total revenue contribution versus total transactional volume (2020–2024).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6409761" cy="4343400"/>
          </a:xfrm>
          <a:prstGeom prst="roundRect">
            <a:avLst>
              <a:gd name="adj" fmla="val 168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93392"/>
            <a:ext cx="494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Revenue Generating Categories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44001" y="2066544"/>
            <a:ext cx="109728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99449" y="19933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2359152"/>
            <a:ext cx="5861121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606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28800" y="2624328"/>
            <a:ext cx="3986601" cy="237744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1828800" y="2624328"/>
            <a:ext cx="3986601" cy="237744"/>
          </a:xfrm>
          <a:prstGeom prst="roundRect">
            <a:avLst>
              <a:gd name="adj" fmla="val 11538"/>
            </a:avLst>
          </a:prstGeom>
          <a:solidFill>
            <a:srgbClr val="38BD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06841" y="2606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$953.4M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2644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28800" y="3282696"/>
            <a:ext cx="3986601" cy="237744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</p:sp>
      <p:sp>
        <p:nvSpPr>
          <p:cNvPr id="16" name="Shape 14"/>
          <p:cNvSpPr/>
          <p:nvPr/>
        </p:nvSpPr>
        <p:spPr>
          <a:xfrm>
            <a:off x="1828800" y="3282696"/>
            <a:ext cx="3867003" cy="237744"/>
          </a:xfrm>
          <a:prstGeom prst="roundRect">
            <a:avLst>
              <a:gd name="adj" fmla="val 11538"/>
            </a:avLst>
          </a:prstGeom>
          <a:solidFill>
            <a:srgbClr val="38BD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06841" y="32644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$927.1M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9227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28800" y="3941064"/>
            <a:ext cx="3986601" cy="237744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</p:sp>
      <p:sp>
        <p:nvSpPr>
          <p:cNvPr id="20" name="Shape 18"/>
          <p:cNvSpPr/>
          <p:nvPr/>
        </p:nvSpPr>
        <p:spPr>
          <a:xfrm>
            <a:off x="1828800" y="3941064"/>
            <a:ext cx="3587941" cy="237744"/>
          </a:xfrm>
          <a:prstGeom prst="roundRect">
            <a:avLst>
              <a:gd name="adj" fmla="val 11538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06841" y="39227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$865.1M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5811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828800" y="4599432"/>
            <a:ext cx="3986601" cy="237744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</p:sp>
      <p:sp>
        <p:nvSpPr>
          <p:cNvPr id="24" name="Shape 22"/>
          <p:cNvSpPr/>
          <p:nvPr/>
        </p:nvSpPr>
        <p:spPr>
          <a:xfrm>
            <a:off x="1828800" y="4599432"/>
            <a:ext cx="3308879" cy="237744"/>
          </a:xfrm>
          <a:prstGeom prst="roundRect">
            <a:avLst>
              <a:gd name="adj" fmla="val 11538"/>
            </a:avLst>
          </a:prstGeom>
          <a:solidFill>
            <a:srgbClr val="38BD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06841" y="4581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$795.0M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5239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828800" y="5257800"/>
            <a:ext cx="3986601" cy="237744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</p:sp>
      <p:sp>
        <p:nvSpPr>
          <p:cNvPr id="28" name="Shape 26"/>
          <p:cNvSpPr/>
          <p:nvPr/>
        </p:nvSpPr>
        <p:spPr>
          <a:xfrm>
            <a:off x="1828800" y="5257800"/>
            <a:ext cx="3189281" cy="237744"/>
          </a:xfrm>
          <a:prstGeom prst="roundRect">
            <a:avLst>
              <a:gd name="adj" fmla="val 11538"/>
            </a:avLst>
          </a:prstGeom>
          <a:solidFill>
            <a:srgbClr val="38BDF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06841" y="52395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$763.4M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24161" y="1737360"/>
            <a:ext cx="4273174" cy="2034540"/>
          </a:xfrm>
          <a:prstGeom prst="roundRect">
            <a:avLst>
              <a:gd name="adj" fmla="val 359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24161" y="1737360"/>
            <a:ext cx="54864" cy="20345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98481" y="1993392"/>
            <a:ext cx="3724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LEADER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598481" y="2240280"/>
            <a:ext cx="3724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$953.4M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598481" y="2743200"/>
            <a:ext cx="3724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(CAT-3)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highest top-line revenue across 645k units sold.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24161" y="4046220"/>
            <a:ext cx="4273174" cy="2034540"/>
          </a:xfrm>
          <a:prstGeom prst="roundRect">
            <a:avLst>
              <a:gd name="adj" fmla="val 359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24161" y="4046220"/>
            <a:ext cx="54864" cy="20345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598481" y="4302252"/>
            <a:ext cx="3724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CHAMPION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598481" y="4549140"/>
            <a:ext cx="3724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899,734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7598481" y="5052060"/>
            <a:ext cx="3724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 (CAT-10)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in physical transactions and unit volume, contributing $927.1M.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94360" y="6446520"/>
            <a:ext cx="11002975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Retail Performance Report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854135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LEADERS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6692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 &amp; Desktop Hardware Lead Top Line; Wearables Scale Volume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evaluation of high-revenue drivers versus high-volume ecosystem anchors.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5364328" cy="777240"/>
          </a:xfrm>
          <a:prstGeom prst="roundRect">
            <a:avLst>
              <a:gd name="adj" fmla="val 823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37360"/>
            <a:ext cx="54864" cy="777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856232"/>
            <a:ext cx="353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REVENUE CHAMPION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084832"/>
            <a:ext cx="353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Music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38448" y="17373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$125.45M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3008" y="1737360"/>
            <a:ext cx="5364328" cy="777240"/>
          </a:xfrm>
          <a:prstGeom prst="roundRect">
            <a:avLst>
              <a:gd name="adj" fmla="val 823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33008" y="1737360"/>
            <a:ext cx="54864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89040" y="1856232"/>
            <a:ext cx="3261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VOLUME CHAMPION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89040" y="2084832"/>
            <a:ext cx="326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Watch Series 7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31375" y="17373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65,739 units</a:t>
            </a:r>
            <a:endParaRPr lang="en-US" sz="2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788920"/>
          <a:ext cx="11002975" cy="3200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764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Metric 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Takeaway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Music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$125,453,460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subscription revenue matches top-tier hardware sales.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iMac 27-inch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$124,006,372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desktop computing remains a primary top-line contributor.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iPad mini (5th Generation)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$123,951,136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tablet form factor continues strong market capture.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Volume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Watch Series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65,739 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Wearables drive high ongoing ecosystem engagement.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Volume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65,623 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home entry points scale high physical unit deployment.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Volume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Watch Series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65,481 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watch upgrades deliver consistent recurring volume.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94360" y="6446520"/>
            <a:ext cx="11002975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Retail Performance Report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854135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RETAIL DISTRIBUTION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6692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Flagships Anchored by iPads, Mac Computing &amp; Subscriptions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revenue-generating products localized across key metropolitan retail hubs.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2579294" cy="4251960"/>
          </a:xfrm>
          <a:prstGeom prst="roundRect">
            <a:avLst>
              <a:gd name="adj" fmla="val 28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2213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8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YORK, NY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21992"/>
            <a:ext cx="2213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Fifth Avenue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2834640"/>
            <a:ext cx="221353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834640"/>
            <a:ext cx="41148" cy="6583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89504"/>
            <a:ext cx="203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PRODUCT LEADER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54096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mini (5th Gen)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55264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$1.84M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675888"/>
            <a:ext cx="22135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CONTRIBUTORS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931920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(9th Gen)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994684" y="3931920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$1.81M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187952"/>
            <a:ext cx="2213534" cy="0"/>
          </a:xfrm>
          <a:prstGeom prst="line">
            <a:avLst/>
          </a:prstGeom>
          <a:noFill/>
          <a:ln w="9525">
            <a:solidFill>
              <a:srgbClr val="27354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42816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MacBook Air (M1)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94684" y="4242816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$1.79M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02254" y="1783080"/>
            <a:ext cx="2579294" cy="4251960"/>
          </a:xfrm>
          <a:prstGeom prst="roundRect">
            <a:avLst>
              <a:gd name="adj" fmla="val 28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585134" y="1965960"/>
            <a:ext cx="2213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8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COSTA MESA, CA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585134" y="2221992"/>
            <a:ext cx="2213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South Coast Plaza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3585134" y="2834640"/>
            <a:ext cx="221353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85134" y="2834640"/>
            <a:ext cx="41148" cy="6583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22294" y="2889504"/>
            <a:ext cx="203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PRODUCT LEADER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722294" y="3054096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(9th Gen)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722294" y="3255264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$1.79M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585134" y="3675888"/>
            <a:ext cx="22135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CONTRIBUTORS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585134" y="3931920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iMac 27-inch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802577" y="3931920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$1.76M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85134" y="4187952"/>
            <a:ext cx="2213534" cy="0"/>
          </a:xfrm>
          <a:prstGeom prst="line">
            <a:avLst/>
          </a:prstGeom>
          <a:noFill/>
          <a:ln w="9525">
            <a:solidFill>
              <a:srgbClr val="2735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585134" y="4242816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Pro 11-inch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02577" y="4242816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$1.68M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0148" y="1783080"/>
            <a:ext cx="2579294" cy="4251960"/>
          </a:xfrm>
          <a:prstGeom prst="roundRect">
            <a:avLst>
              <a:gd name="adj" fmla="val 28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93028" y="1965960"/>
            <a:ext cx="2213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8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HONOLULU, HI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393028" y="2221992"/>
            <a:ext cx="2213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Ala Moana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6393028" y="2834640"/>
            <a:ext cx="221353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/>
        </p:spPr>
      </p:sp>
      <p:sp>
        <p:nvSpPr>
          <p:cNvPr id="37" name="Shape 35"/>
          <p:cNvSpPr/>
          <p:nvPr/>
        </p:nvSpPr>
        <p:spPr>
          <a:xfrm>
            <a:off x="6393028" y="2834640"/>
            <a:ext cx="41148" cy="65836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30188" y="2889504"/>
            <a:ext cx="203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PRODUCT LEADER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6530188" y="3054096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Music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530188" y="3255264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$1.79M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393028" y="3675888"/>
            <a:ext cx="22135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CONTRIBUTORS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393028" y="3931920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MacBook Air (Retina)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7610471" y="3931920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$1.72M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93028" y="4187952"/>
            <a:ext cx="2213534" cy="0"/>
          </a:xfrm>
          <a:prstGeom prst="line">
            <a:avLst/>
          </a:prstGeom>
          <a:noFill/>
          <a:ln w="9525">
            <a:solidFill>
              <a:srgbClr val="27354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93028" y="4242816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Watch Hermès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610471" y="4242816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018041" y="1783080"/>
            <a:ext cx="2579294" cy="4251960"/>
          </a:xfrm>
          <a:prstGeom prst="roundRect">
            <a:avLst>
              <a:gd name="adj" fmla="val 28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00921" y="1965960"/>
            <a:ext cx="2213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8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CHICAGO, IL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200921" y="2221992"/>
            <a:ext cx="2213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North Michigan Ave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9200921" y="2834640"/>
            <a:ext cx="221353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/>
        </p:spPr>
      </p:sp>
      <p:sp>
        <p:nvSpPr>
          <p:cNvPr id="51" name="Shape 49"/>
          <p:cNvSpPr/>
          <p:nvPr/>
        </p:nvSpPr>
        <p:spPr>
          <a:xfrm>
            <a:off x="9200921" y="2834640"/>
            <a:ext cx="41148" cy="65836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338081" y="2889504"/>
            <a:ext cx="20306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PRODUCT LEADER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9338081" y="3054096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Music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338081" y="3255264"/>
            <a:ext cx="203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$1.69M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200921" y="3675888"/>
            <a:ext cx="22135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9200921" y="3931920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Adoption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0418365" y="3931920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Rate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9200921" y="4187952"/>
            <a:ext cx="2213534" cy="0"/>
          </a:xfrm>
          <a:prstGeom prst="line">
            <a:avLst/>
          </a:prstGeom>
          <a:noFill/>
          <a:ln w="9525">
            <a:solidFill>
              <a:srgbClr val="27354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200921" y="4242816"/>
            <a:ext cx="1328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Attach Rate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10418365" y="4242816"/>
            <a:ext cx="9960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94360" y="6446520"/>
            <a:ext cx="11002975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Retail Performance Report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8854135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of 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2004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QUALITY &amp; RELIABILITY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566928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Claims Remain Low &amp; Stable Across All Categories (&lt; 3%)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total transaction sales against logged warranty repair claims by product line.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4076889" cy="4343400"/>
          </a:xfrm>
          <a:prstGeom prst="roundRect">
            <a:avLst>
              <a:gd name="adj" fmla="val 179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691640"/>
            <a:ext cx="54864" cy="4343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1947672"/>
            <a:ext cx="352824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BENCHMARK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194560"/>
            <a:ext cx="35282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880360"/>
            <a:ext cx="3528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Claim Rate across Portfolio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3227832"/>
            <a:ext cx="34916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repair claims show strict consistency across hardware types, varying by less than </a:t>
            </a: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0.27%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top to bottom.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6968" y="4800600"/>
            <a:ext cx="3491673" cy="960120"/>
          </a:xfrm>
          <a:prstGeom prst="roundRect">
            <a:avLst>
              <a:gd name="adj" fmla="val 4762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3272" y="4928616"/>
            <a:ext cx="31990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Post-Sale Liability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5166360"/>
            <a:ext cx="31990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operational outlier failure points detected. Current hardware engineering meets strict manufacturing reliability standards.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45569" y="1691640"/>
            <a:ext cx="6651766" cy="4343400"/>
          </a:xfrm>
          <a:prstGeom prst="roundRect">
            <a:avLst>
              <a:gd name="adj" fmla="val 168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19889" y="1892808"/>
            <a:ext cx="39085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Rate Percentage by Category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037015" y="1892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Total Sales Transactions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19889" y="2194560"/>
            <a:ext cx="6103126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9889" y="23500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Speaker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57249" y="24711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20" name="Shape 18"/>
          <p:cNvSpPr/>
          <p:nvPr/>
        </p:nvSpPr>
        <p:spPr>
          <a:xfrm>
            <a:off x="6957249" y="2471166"/>
            <a:ext cx="3561561" cy="100584"/>
          </a:xfrm>
          <a:prstGeom prst="round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682935" y="23500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2.95%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19889" y="26929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57249" y="28140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57249" y="2814066"/>
            <a:ext cx="3525219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82935" y="26929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219889" y="30358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957249" y="31569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28" name="Shape 26"/>
          <p:cNvSpPr/>
          <p:nvPr/>
        </p:nvSpPr>
        <p:spPr>
          <a:xfrm>
            <a:off x="6957249" y="3156966"/>
            <a:ext cx="3488876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82935" y="30358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2.92%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219889" y="33787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57249" y="34998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32" name="Shape 30"/>
          <p:cNvSpPr/>
          <p:nvPr/>
        </p:nvSpPr>
        <p:spPr>
          <a:xfrm>
            <a:off x="6957249" y="3499866"/>
            <a:ext cx="3452534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682935" y="33787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2.91%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219889" y="37216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Service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57249" y="38427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36" name="Shape 34"/>
          <p:cNvSpPr/>
          <p:nvPr/>
        </p:nvSpPr>
        <p:spPr>
          <a:xfrm>
            <a:off x="6957249" y="3842766"/>
            <a:ext cx="3452534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82935" y="37216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2.91%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219889" y="40645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57249" y="41856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40" name="Shape 38"/>
          <p:cNvSpPr/>
          <p:nvPr/>
        </p:nvSpPr>
        <p:spPr>
          <a:xfrm>
            <a:off x="6957249" y="4185666"/>
            <a:ext cx="3416191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682935" y="40645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2.90%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219889" y="44074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957249" y="45285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44" name="Shape 42"/>
          <p:cNvSpPr/>
          <p:nvPr/>
        </p:nvSpPr>
        <p:spPr>
          <a:xfrm>
            <a:off x="6957249" y="4528566"/>
            <a:ext cx="3379849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682935" y="44074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2.89%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219889" y="47503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957249" y="48714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48" name="Shape 46"/>
          <p:cNvSpPr/>
          <p:nvPr/>
        </p:nvSpPr>
        <p:spPr>
          <a:xfrm>
            <a:off x="6957249" y="4871466"/>
            <a:ext cx="3270822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682935" y="47503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2.84%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219889" y="50932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957249" y="52143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52" name="Shape 50"/>
          <p:cNvSpPr/>
          <p:nvPr/>
        </p:nvSpPr>
        <p:spPr>
          <a:xfrm>
            <a:off x="6957249" y="5214366"/>
            <a:ext cx="3198137" cy="100584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682935" y="50932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2.83%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5219889" y="5436108"/>
            <a:ext cx="173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Device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957249" y="5557266"/>
            <a:ext cx="3634246" cy="100584"/>
          </a:xfrm>
          <a:prstGeom prst="roundRect">
            <a:avLst>
              <a:gd name="adj" fmla="val 18182"/>
            </a:avLst>
          </a:prstGeom>
          <a:solidFill>
            <a:srgbClr val="0F172A"/>
          </a:solidFill>
          <a:ln/>
        </p:spPr>
      </p:sp>
      <p:sp>
        <p:nvSpPr>
          <p:cNvPr id="56" name="Shape 54"/>
          <p:cNvSpPr/>
          <p:nvPr/>
        </p:nvSpPr>
        <p:spPr>
          <a:xfrm>
            <a:off x="6957249" y="5557266"/>
            <a:ext cx="2980082" cy="100584"/>
          </a:xfrm>
          <a:prstGeom prst="roundRect">
            <a:avLst>
              <a:gd name="adj" fmla="val 18182"/>
            </a:avLst>
          </a:prstGeom>
          <a:solidFill>
            <a:srgbClr val="34D399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82935" y="5436108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94360" y="6446520"/>
            <a:ext cx="11002975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9436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Retail Performance Report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8854135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of 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730</Words>
  <Application>Microsoft Office PowerPoint</Application>
  <PresentationFormat>Widescreen</PresentationFormat>
  <Paragraphs>192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Author</cp:lastModifiedBy>
  <cp:revision>1</cp:revision>
  <dcterms:created xsi:type="dcterms:W3CDTF">2026-08-29T18:36:02Z</dcterms:created>
  <dcterms:modified xsi:type="dcterms:W3CDTF">2026-08-29T18:38:45Z</dcterms:modified>
</cp:coreProperties>
</file>