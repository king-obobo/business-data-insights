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3" r:id="rId2"/>
    <p:sldId id="262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3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088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2556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62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76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0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0586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160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65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582982"/>
            <a:ext cx="10949624" cy="62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this pitch deck attempts to answer…</a:t>
            </a:r>
            <a:endParaRPr lang="en-US" sz="4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5D33D8-87A0-4CBB-9F33-C5D418910AA6}"/>
              </a:ext>
            </a:extLst>
          </p:cNvPr>
          <p:cNvSpPr txBox="1"/>
          <p:nvPr/>
        </p:nvSpPr>
        <p:spPr>
          <a:xfrm>
            <a:off x="668632" y="1486359"/>
            <a:ext cx="11148899" cy="405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22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Data source and Data quality issues.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22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Revenue trends over the years.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22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Which CATEGORY of products has the best / worst REVENUE ?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22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What are the TOP three (3) PRODUCTS by REVENUE ?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22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What are the TOP three (3) PRODUCTS by VOLUME ?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sz="22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Pandas vs Polars benchmark which is more efficient and faster ?</a:t>
            </a:r>
          </a:p>
        </p:txBody>
      </p:sp>
    </p:spTree>
    <p:extLst>
      <p:ext uri="{BB962C8B-B14F-4D97-AF65-F5344CB8AC3E}">
        <p14:creationId xmlns:p14="http://schemas.microsoft.com/office/powerpoint/2010/main" val="1575027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304689"/>
            <a:ext cx="10949624" cy="4790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Data source and Data quality issues</a:t>
            </a:r>
            <a:endParaRPr 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5D33D8-87A0-4CBB-9F33-C5D418910AA6}"/>
              </a:ext>
            </a:extLst>
          </p:cNvPr>
          <p:cNvSpPr txBox="1"/>
          <p:nvPr/>
        </p:nvSpPr>
        <p:spPr>
          <a:xfrm>
            <a:off x="557349" y="836024"/>
            <a:ext cx="11382101" cy="5014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The dataset used was pulled directly from Kaggle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It contains over 1 million rows of Apple Retail Sales data.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It also includes information on </a:t>
            </a:r>
            <a:r>
              <a:rPr lang="en-US" sz="2400" b="1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products</a:t>
            </a: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2400" b="1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stores</a:t>
            </a: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2400" b="1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sales transactions</a:t>
            </a: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, and </a:t>
            </a:r>
            <a:r>
              <a:rPr lang="en-US" sz="2400" b="1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warranty</a:t>
            </a: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claims.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The data set had </a:t>
            </a:r>
            <a:r>
              <a:rPr lang="en-US" sz="2400" dirty="0" err="1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littlr</a:t>
            </a: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to no quality issues and it was clean. The only cleaning done was formatting of the dates.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NOTE:</a:t>
            </a: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This dataset is not based on real Apple Inc. data.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It was created using Python and LLM-generated insights to simulate realistic sales patterns and business metrics.</a:t>
            </a:r>
          </a:p>
        </p:txBody>
      </p:sp>
    </p:spTree>
    <p:extLst>
      <p:ext uri="{BB962C8B-B14F-4D97-AF65-F5344CB8AC3E}">
        <p14:creationId xmlns:p14="http://schemas.microsoft.com/office/powerpoint/2010/main" val="1817355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304689"/>
            <a:ext cx="10949624" cy="4790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Revenue Trends over the years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AB8AE-9ED6-4806-854B-D7D7D6D6F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73" y="1445629"/>
            <a:ext cx="7744716" cy="4615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7B8A77-0934-47FF-9014-0AD419BDBA05}"/>
              </a:ext>
            </a:extLst>
          </p:cNvPr>
          <p:cNvSpPr txBox="1"/>
          <p:nvPr/>
        </p:nvSpPr>
        <p:spPr>
          <a:xfrm>
            <a:off x="8804366" y="3475844"/>
            <a:ext cx="31786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Revenue held remarkably flat at roughly $1.26B – 1.27B every year from 2020 to 2023, then dropped sharply to $1.10B in 2024, a clear break from five years of stability.</a:t>
            </a:r>
            <a:endParaRPr lang="en-NG" dirty="0">
              <a:solidFill>
                <a:schemeClr val="bg2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4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287272"/>
            <a:ext cx="10949624" cy="4790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CATEGORY of products and their REVENUE …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7B8A77-0934-47FF-9014-0AD419BDBA05}"/>
              </a:ext>
            </a:extLst>
          </p:cNvPr>
          <p:cNvSpPr txBox="1"/>
          <p:nvPr/>
        </p:nvSpPr>
        <p:spPr>
          <a:xfrm>
            <a:off x="8908870" y="3831220"/>
            <a:ext cx="317862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Tablets and Accessories lead all ten categories, while Smart Speakers trail far behind, showing a steep drop-off after the top five categories.</a:t>
            </a:r>
            <a:endParaRPr lang="en-NG" dirty="0">
              <a:solidFill>
                <a:schemeClr val="bg2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9A0F3F-096E-4A18-A582-27F647CC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2" y="862150"/>
            <a:ext cx="8363918" cy="527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981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287272"/>
            <a:ext cx="10949624" cy="4790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TOP three (3) PRODUCTS by REVENUE…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7B8A77-0934-47FF-9014-0AD419BDBA05}"/>
              </a:ext>
            </a:extLst>
          </p:cNvPr>
          <p:cNvSpPr txBox="1"/>
          <p:nvPr/>
        </p:nvSpPr>
        <p:spPr>
          <a:xfrm>
            <a:off x="8847910" y="3864379"/>
            <a:ext cx="31786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Apple Music narrowly edges out iMac 27-inch and iPad mini 5th Gen, showing that subscription revenue now rivals the best-selling hardware.</a:t>
            </a:r>
            <a:endParaRPr lang="en-NG" dirty="0">
              <a:solidFill>
                <a:schemeClr val="bg2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6992D6-33C3-4D04-A785-3B11A6431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3475"/>
            <a:ext cx="8516983" cy="472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061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287272"/>
            <a:ext cx="10949624" cy="4790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TOP three (3) PRODUCTS by VOLUME…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7B8A77-0934-47FF-9014-0AD419BDBA05}"/>
              </a:ext>
            </a:extLst>
          </p:cNvPr>
          <p:cNvSpPr txBox="1"/>
          <p:nvPr/>
        </p:nvSpPr>
        <p:spPr>
          <a:xfrm>
            <a:off x="8908870" y="3493177"/>
            <a:ext cx="31786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Apple Watch Series 7 leads a very tightly clustered pack with </a:t>
            </a:r>
            <a:r>
              <a:rPr lang="en-US" dirty="0" err="1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HomePod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and Apple Watch Series 9, all within about 260 units of each other.</a:t>
            </a:r>
            <a:endParaRPr lang="en-NG" dirty="0">
              <a:solidFill>
                <a:schemeClr val="bg2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49A474-1B21-457D-B622-776C2D1C3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409" y="1333498"/>
            <a:ext cx="8442007" cy="419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057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">
            <a:extLst>
              <a:ext uri="{FF2B5EF4-FFF2-40B4-BE49-F238E27FC236}">
                <a16:creationId xmlns:a16="http://schemas.microsoft.com/office/drawing/2014/main" id="{F698D9C9-7359-449B-B860-E8C9764E34DF}"/>
              </a:ext>
            </a:extLst>
          </p:cNvPr>
          <p:cNvSpPr txBox="1"/>
          <p:nvPr/>
        </p:nvSpPr>
        <p:spPr>
          <a:xfrm>
            <a:off x="621036" y="304689"/>
            <a:ext cx="10949624" cy="4790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Summary &amp; Recommendations…</a:t>
            </a:r>
            <a:endParaRPr 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5D33D8-87A0-4CBB-9F33-C5D418910AA6}"/>
              </a:ext>
            </a:extLst>
          </p:cNvPr>
          <p:cNvSpPr txBox="1"/>
          <p:nvPr/>
        </p:nvSpPr>
        <p:spPr>
          <a:xfrm>
            <a:off x="557349" y="836024"/>
            <a:ext cx="11382101" cy="5117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The 2024 "decline" (-12.7%) is not a business trend. Recording stops on November 11, 2024, so December is fully absent and November itself is missing 19 of its 30 days. A backfill of the missing days is highly recommended. However, Tablets and Accessories anchor revenue, and Apple Music now rivals flagship hardware. 4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The recommended near-term focus is to protect and scale these proven drivers.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2000" dirty="0">
              <a:solidFill>
                <a:schemeClr val="bg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bg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On tooling: Polars loaded the source data 1.81x faster and ran aggregations 3.82x faster than Pandas. Standardizing the pipeline on Polars makes fast, frequent reconciliation checks cheap</a:t>
            </a:r>
          </a:p>
        </p:txBody>
      </p:sp>
    </p:spTree>
    <p:extLst>
      <p:ext uri="{BB962C8B-B14F-4D97-AF65-F5344CB8AC3E}">
        <p14:creationId xmlns:p14="http://schemas.microsoft.com/office/powerpoint/2010/main" val="3348618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423</Words>
  <Application>Microsoft Office PowerPoint</Application>
  <PresentationFormat>Widescreen</PresentationFormat>
  <Paragraphs>34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Author</cp:lastModifiedBy>
  <cp:revision>12</cp:revision>
  <dcterms:created xsi:type="dcterms:W3CDTF">2026-08-29T18:36:02Z</dcterms:created>
  <dcterms:modified xsi:type="dcterms:W3CDTF">2026-09-02T19:53:54Z</dcterms:modified>
</cp:coreProperties>
</file>