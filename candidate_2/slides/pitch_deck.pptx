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62" r:id="rId3"/>
    <p:sldId id="264" r:id="rId4"/>
    <p:sldId id="265" r:id="rId5"/>
    <p:sldId id="266" r:id="rId6"/>
    <p:sldId id="267" r:id="rId7"/>
    <p:sldId id="270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3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088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255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62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76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550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58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16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83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465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F698D9C9-7359-449B-B860-E8C9764E34DF}"/>
              </a:ext>
            </a:extLst>
          </p:cNvPr>
          <p:cNvSpPr txBox="1"/>
          <p:nvPr/>
        </p:nvSpPr>
        <p:spPr>
          <a:xfrm>
            <a:off x="621036" y="582982"/>
            <a:ext cx="10949624" cy="62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</a:t>
            </a:r>
            <a:r>
              <a:rPr lang="en-US" sz="4000" b="1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slides </a:t>
            </a:r>
            <a:r>
              <a:rPr lang="en-US" sz="4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attempts to answer…</a:t>
            </a:r>
            <a:endParaRPr lang="en-US" sz="4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5D33D8-87A0-4CBB-9F33-C5D418910AA6}"/>
              </a:ext>
            </a:extLst>
          </p:cNvPr>
          <p:cNvSpPr txBox="1"/>
          <p:nvPr/>
        </p:nvSpPr>
        <p:spPr>
          <a:xfrm>
            <a:off x="668632" y="1486359"/>
            <a:ext cx="11148899" cy="405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 source and Data quality issues.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Revenue trends over the years.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Which CATEGORY of products has the best / worst REVENUE ?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What are the TOP three (3) PRODUCTS by REVENUE ?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What are the TOP three (3) PRODUCTS by VOLUME ?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Pandas vs Polars benchmark which is more efficient and faster ?</a:t>
            </a:r>
          </a:p>
        </p:txBody>
      </p:sp>
    </p:spTree>
    <p:extLst>
      <p:ext uri="{BB962C8B-B14F-4D97-AF65-F5344CB8AC3E}">
        <p14:creationId xmlns:p14="http://schemas.microsoft.com/office/powerpoint/2010/main" val="1575027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F698D9C9-7359-449B-B860-E8C9764E34DF}"/>
              </a:ext>
            </a:extLst>
          </p:cNvPr>
          <p:cNvSpPr txBox="1"/>
          <p:nvPr/>
        </p:nvSpPr>
        <p:spPr>
          <a:xfrm>
            <a:off x="621036" y="304689"/>
            <a:ext cx="10949624" cy="479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 source and Data quality issues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5D33D8-87A0-4CBB-9F33-C5D418910AA6}"/>
              </a:ext>
            </a:extLst>
          </p:cNvPr>
          <p:cNvSpPr txBox="1"/>
          <p:nvPr/>
        </p:nvSpPr>
        <p:spPr>
          <a:xfrm>
            <a:off x="557349" y="836024"/>
            <a:ext cx="11382101" cy="5014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dataset used was pulled directly from Kaggle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It contains over 1 million rows of Apple Retail Sales data.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It also includes information on </a:t>
            </a:r>
            <a:r>
              <a:rPr lang="en-US" sz="24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products</a:t>
            </a:r>
            <a:r>
              <a:rPr lang="en-US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stores</a:t>
            </a:r>
            <a:r>
              <a:rPr lang="en-US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sales transactions</a:t>
            </a:r>
            <a:r>
              <a:rPr lang="en-US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and </a:t>
            </a:r>
            <a:r>
              <a:rPr lang="en-US" sz="24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warranty</a:t>
            </a:r>
            <a:r>
              <a:rPr lang="en-US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claims.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data set had </a:t>
            </a:r>
            <a:r>
              <a:rPr lang="en-US" sz="2400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littlr</a:t>
            </a:r>
            <a:r>
              <a:rPr lang="en-US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to no quality issues and it was clean. The only cleaning done was formatting of the dates.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NOTE:</a:t>
            </a:r>
            <a:r>
              <a:rPr lang="en-US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This dataset is not based on real Apple Inc. data.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It was created using Python and LLM-generated insights to simulate realistic sales patterns and business metrics.</a:t>
            </a:r>
          </a:p>
        </p:txBody>
      </p:sp>
    </p:spTree>
    <p:extLst>
      <p:ext uri="{BB962C8B-B14F-4D97-AF65-F5344CB8AC3E}">
        <p14:creationId xmlns:p14="http://schemas.microsoft.com/office/powerpoint/2010/main" val="1817355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F698D9C9-7359-449B-B860-E8C9764E34DF}"/>
              </a:ext>
            </a:extLst>
          </p:cNvPr>
          <p:cNvSpPr txBox="1"/>
          <p:nvPr/>
        </p:nvSpPr>
        <p:spPr>
          <a:xfrm>
            <a:off x="621036" y="304689"/>
            <a:ext cx="10949624" cy="479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Revenue Trends over the years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DAB8AE-9ED6-4806-854B-D7D7D6D6F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573" y="1445629"/>
            <a:ext cx="7744716" cy="4615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7B8A77-0934-47FF-9014-0AD419BDBA05}"/>
              </a:ext>
            </a:extLst>
          </p:cNvPr>
          <p:cNvSpPr txBox="1"/>
          <p:nvPr/>
        </p:nvSpPr>
        <p:spPr>
          <a:xfrm>
            <a:off x="8804366" y="3475844"/>
            <a:ext cx="317862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Revenue held remarkably flat at roughly $1.26B – 1.27B every year from 2020 to 2023, then dropped sharply to $1.10B in 2024, a clear break from five years of stability.</a:t>
            </a:r>
            <a:endParaRPr lang="en-NG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419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F698D9C9-7359-449B-B860-E8C9764E34DF}"/>
              </a:ext>
            </a:extLst>
          </p:cNvPr>
          <p:cNvSpPr txBox="1"/>
          <p:nvPr/>
        </p:nvSpPr>
        <p:spPr>
          <a:xfrm>
            <a:off x="621036" y="287272"/>
            <a:ext cx="10949624" cy="479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CATEGORY of products and their REVENUE …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B8A77-0934-47FF-9014-0AD419BDBA05}"/>
              </a:ext>
            </a:extLst>
          </p:cNvPr>
          <p:cNvSpPr txBox="1"/>
          <p:nvPr/>
        </p:nvSpPr>
        <p:spPr>
          <a:xfrm>
            <a:off x="8908870" y="3831220"/>
            <a:ext cx="31786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Tablets and Accessories lead all ten categories, while Smart Speakers trail far behind, showing a steep drop-off after the top five categories.</a:t>
            </a:r>
            <a:endParaRPr lang="en-NG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9A0F3F-096E-4A18-A582-27F647CC2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62" y="862150"/>
            <a:ext cx="8363918" cy="527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981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F698D9C9-7359-449B-B860-E8C9764E34DF}"/>
              </a:ext>
            </a:extLst>
          </p:cNvPr>
          <p:cNvSpPr txBox="1"/>
          <p:nvPr/>
        </p:nvSpPr>
        <p:spPr>
          <a:xfrm>
            <a:off x="621036" y="287272"/>
            <a:ext cx="10949624" cy="479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TOP three (3) PRODUCTS by REVENUE…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B8A77-0934-47FF-9014-0AD419BDBA05}"/>
              </a:ext>
            </a:extLst>
          </p:cNvPr>
          <p:cNvSpPr txBox="1"/>
          <p:nvPr/>
        </p:nvSpPr>
        <p:spPr>
          <a:xfrm>
            <a:off x="8847910" y="3864379"/>
            <a:ext cx="31786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Apple Music narrowly edges out iMac 27-inch and iPad mini 5th Gen, showing that subscription revenue now rivals the best-selling hardware.</a:t>
            </a:r>
            <a:endParaRPr lang="en-NG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6992D6-33C3-4D04-A785-3B11A6431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73475"/>
            <a:ext cx="8516983" cy="472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06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F698D9C9-7359-449B-B860-E8C9764E34DF}"/>
              </a:ext>
            </a:extLst>
          </p:cNvPr>
          <p:cNvSpPr txBox="1"/>
          <p:nvPr/>
        </p:nvSpPr>
        <p:spPr>
          <a:xfrm>
            <a:off x="621036" y="287272"/>
            <a:ext cx="10949624" cy="479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TOP three (3) PRODUCTS by VOLUME…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B8A77-0934-47FF-9014-0AD419BDBA05}"/>
              </a:ext>
            </a:extLst>
          </p:cNvPr>
          <p:cNvSpPr txBox="1"/>
          <p:nvPr/>
        </p:nvSpPr>
        <p:spPr>
          <a:xfrm>
            <a:off x="8908870" y="3493177"/>
            <a:ext cx="31786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Apple Watch Series 7 leads a very tightly clustered pack with </a:t>
            </a:r>
            <a:r>
              <a:rPr lang="en-US" dirty="0" err="1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HomePod</a:t>
            </a:r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and Apple Watch Series 9, all within about 260 units of each other.</a:t>
            </a:r>
            <a:endParaRPr lang="en-NG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49A474-1B21-457D-B622-776C2D1C3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09" y="1333498"/>
            <a:ext cx="8442007" cy="41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57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F698D9C9-7359-449B-B860-E8C9764E34DF}"/>
              </a:ext>
            </a:extLst>
          </p:cNvPr>
          <p:cNvSpPr txBox="1"/>
          <p:nvPr/>
        </p:nvSpPr>
        <p:spPr>
          <a:xfrm>
            <a:off x="621036" y="269855"/>
            <a:ext cx="10949624" cy="479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Benchmarks…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B8A77-0934-47FF-9014-0AD419BDBA05}"/>
              </a:ext>
            </a:extLst>
          </p:cNvPr>
          <p:cNvSpPr txBox="1"/>
          <p:nvPr/>
        </p:nvSpPr>
        <p:spPr>
          <a:xfrm>
            <a:off x="7273284" y="4285453"/>
            <a:ext cx="3230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After 5 runs, Polars completed aggregation 5.52x faster.</a:t>
            </a:r>
            <a:endParaRPr lang="en-NG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1DAC8DB7-9594-4E6A-B692-A293641FD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254321"/>
              </p:ext>
            </p:extLst>
          </p:nvPr>
        </p:nvGraphicFramePr>
        <p:xfrm>
          <a:off x="720084" y="1854926"/>
          <a:ext cx="3892731" cy="197684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97577">
                  <a:extLst>
                    <a:ext uri="{9D8B030D-6E8A-4147-A177-3AD203B41FA5}">
                      <a16:colId xmlns:a16="http://schemas.microsoft.com/office/drawing/2014/main" val="211208285"/>
                    </a:ext>
                  </a:extLst>
                </a:gridCol>
                <a:gridCol w="1297577">
                  <a:extLst>
                    <a:ext uri="{9D8B030D-6E8A-4147-A177-3AD203B41FA5}">
                      <a16:colId xmlns:a16="http://schemas.microsoft.com/office/drawing/2014/main" val="2932182459"/>
                    </a:ext>
                  </a:extLst>
                </a:gridCol>
                <a:gridCol w="1297577">
                  <a:extLst>
                    <a:ext uri="{9D8B030D-6E8A-4147-A177-3AD203B41FA5}">
                      <a16:colId xmlns:a16="http://schemas.microsoft.com/office/drawing/2014/main" val="118212405"/>
                    </a:ext>
                  </a:extLst>
                </a:gridCol>
              </a:tblGrid>
              <a:tr h="658948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Tool</a:t>
                      </a:r>
                      <a:endParaRPr lang="en-NG" dirty="0"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Read Time</a:t>
                      </a:r>
                      <a:endParaRPr lang="en-NG" dirty="0"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Peak Memory</a:t>
                      </a:r>
                      <a:endParaRPr lang="en-NG" dirty="0"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001214"/>
                  </a:ext>
                </a:extLst>
              </a:tr>
              <a:tr h="65894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Pandas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311.76 ms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19.92 MB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372554"/>
                  </a:ext>
                </a:extLst>
              </a:tr>
              <a:tr h="65894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Polars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181.68 ms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0.00 MB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0289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172F1A4-91C6-45A1-9DB5-622CB28411DC}"/>
              </a:ext>
            </a:extLst>
          </p:cNvPr>
          <p:cNvSpPr txBox="1"/>
          <p:nvPr/>
        </p:nvSpPr>
        <p:spPr>
          <a:xfrm>
            <a:off x="3802917" y="1049328"/>
            <a:ext cx="3361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Dataset Rows: 1,040,200</a:t>
            </a:r>
            <a:endParaRPr lang="en-NG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B89C0774-EFC0-4B85-9AB8-2D87450B82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382687"/>
              </p:ext>
            </p:extLst>
          </p:nvPr>
        </p:nvGraphicFramePr>
        <p:xfrm>
          <a:off x="7273284" y="1854926"/>
          <a:ext cx="3892731" cy="1976844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97577">
                  <a:extLst>
                    <a:ext uri="{9D8B030D-6E8A-4147-A177-3AD203B41FA5}">
                      <a16:colId xmlns:a16="http://schemas.microsoft.com/office/drawing/2014/main" val="211208285"/>
                    </a:ext>
                  </a:extLst>
                </a:gridCol>
                <a:gridCol w="1297577">
                  <a:extLst>
                    <a:ext uri="{9D8B030D-6E8A-4147-A177-3AD203B41FA5}">
                      <a16:colId xmlns:a16="http://schemas.microsoft.com/office/drawing/2014/main" val="2932182459"/>
                    </a:ext>
                  </a:extLst>
                </a:gridCol>
                <a:gridCol w="1297577">
                  <a:extLst>
                    <a:ext uri="{9D8B030D-6E8A-4147-A177-3AD203B41FA5}">
                      <a16:colId xmlns:a16="http://schemas.microsoft.com/office/drawing/2014/main" val="118212405"/>
                    </a:ext>
                  </a:extLst>
                </a:gridCol>
              </a:tblGrid>
              <a:tr h="658948"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Tool</a:t>
                      </a:r>
                      <a:endParaRPr lang="en-NG" dirty="0"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Exec Time</a:t>
                      </a:r>
                      <a:endParaRPr lang="en-NG" dirty="0"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+mn-lt"/>
                        </a:rPr>
                        <a:t>Peak Memory</a:t>
                      </a:r>
                      <a:endParaRPr lang="en-NG" dirty="0">
                        <a:latin typeface="+mn-lt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9001214"/>
                  </a:ext>
                </a:extLst>
              </a:tr>
              <a:tr h="65894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Pandas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283.67 ms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72.94 MB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372554"/>
                  </a:ext>
                </a:extLst>
              </a:tr>
              <a:tr h="658948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Polars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51.39 ms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0.01 MB</a:t>
                      </a:r>
                      <a:endParaRPr lang="en-NG" sz="15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02897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023E735-71DB-4D91-AA68-16FC2B3E1FFA}"/>
              </a:ext>
            </a:extLst>
          </p:cNvPr>
          <p:cNvSpPr txBox="1"/>
          <p:nvPr/>
        </p:nvSpPr>
        <p:spPr>
          <a:xfrm>
            <a:off x="670560" y="4285453"/>
            <a:ext cx="3230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After 3 runs, Polars loaded the Parquet file 1.72x faster.</a:t>
            </a:r>
            <a:endParaRPr lang="en-NG" dirty="0">
              <a:solidFill>
                <a:schemeClr val="bg2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184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F698D9C9-7359-449B-B860-E8C9764E34DF}"/>
              </a:ext>
            </a:extLst>
          </p:cNvPr>
          <p:cNvSpPr txBox="1"/>
          <p:nvPr/>
        </p:nvSpPr>
        <p:spPr>
          <a:xfrm>
            <a:off x="621036" y="304689"/>
            <a:ext cx="10949624" cy="479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Summary &amp; Recommendations…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5D33D8-87A0-4CBB-9F33-C5D418910AA6}"/>
              </a:ext>
            </a:extLst>
          </p:cNvPr>
          <p:cNvSpPr txBox="1"/>
          <p:nvPr/>
        </p:nvSpPr>
        <p:spPr>
          <a:xfrm>
            <a:off x="557349" y="836024"/>
            <a:ext cx="11382101" cy="5117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2024 "decline" (-12.7%) is not a business trend. Recording stops on November 11, 2024, so December is fully absent and November itself is missing 19 of its 30 days. A backfill of the missing days is highly recommended. However, Tablets and Accessories anchor revenue, and Apple Music now rivals flagship hardware. 4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 recommended near-term focus is to protect and scale these proven drivers.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 tooling: Polars loaded the source data 1.72x faster and ran aggregations 5.52x faster than Pandas. Standardizing the pipeline on Polars makes fast, frequent reconciliation checks cheap</a:t>
            </a:r>
          </a:p>
        </p:txBody>
      </p:sp>
    </p:spTree>
    <p:extLst>
      <p:ext uri="{BB962C8B-B14F-4D97-AF65-F5344CB8AC3E}">
        <p14:creationId xmlns:p14="http://schemas.microsoft.com/office/powerpoint/2010/main" val="3348618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481</Words>
  <Application>Microsoft Office PowerPoint</Application>
  <PresentationFormat>Widescreen</PresentationFormat>
  <Paragraphs>57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Cascadia Code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Author</cp:lastModifiedBy>
  <cp:revision>16</cp:revision>
  <dcterms:created xsi:type="dcterms:W3CDTF">2026-08-29T18:36:02Z</dcterms:created>
  <dcterms:modified xsi:type="dcterms:W3CDTF">2026-09-03T05:41:53Z</dcterms:modified>
</cp:coreProperties>
</file>